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Space Grotesk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SpaceGrotesk-bold.fntdata"/><Relationship Id="rId16" Type="http://schemas.openxmlformats.org/officeDocument/2006/relationships/font" Target="fonts/SpaceGrotesk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4c515f6aea982df0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h4c515f6aea982df0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everyone. Today has two halves: first, how the next nine weeks work; then we jump straight into Python using a dataset you all helped create.</a:t>
            </a:r>
            <a:endParaRPr/>
          </a:p>
        </p:txBody>
      </p:sp>
      <p:sp>
        <p:nvSpPr>
          <p:cNvPr id="55" name="Google Shape;55;h4c515f6aea982df0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4c515f6aea982df0_3_1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h4c515f6aea982df0_3_1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Coaching path in Handshake: Undergraduate/Graduate Students, then NYU Tandon Career Hub, then Technical Interview Prep Appointment. Discussion board hours are in the syllabus.</a:t>
            </a:r>
            <a:endParaRPr/>
          </a:p>
        </p:txBody>
      </p:sp>
      <p:sp>
        <p:nvSpPr>
          <p:cNvPr id="67" name="Google Shape;67;h4c515f6aea982df0_3_1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2bb1b310374d68cb_22_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h2bb1b310374d68cb_22_9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Week 1 notebook in Colab and upload responses.csv from the Files panel. We'll run a full, if modest, exploratory data analysis using only the standard language, so nothing happens by magic.</a:t>
            </a:r>
            <a:endParaRPr/>
          </a:p>
        </p:txBody>
      </p:sp>
      <p:sp>
        <p:nvSpPr>
          <p:cNvPr id="90" name="Google Shape;90;h2bb1b310374d68cb_22_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4c515f6aea982df0_3_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h4c515f6aea982df0_3_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topic both days each week; you must stay in your chosen section. Highlighted rows are the two project presentation weeks. No sessions Thanksgiving week, but the team is available for questions and 1:1 coaching, so use that week for your project.</a:t>
            </a:r>
            <a:endParaRPr/>
          </a:p>
        </p:txBody>
      </p:sp>
      <p:sp>
        <p:nvSpPr>
          <p:cNvPr id="99" name="Google Shape;99;h4c515f6aea982df0_3_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c515f6aea982df0_3_1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h4c515f6aea982df0_3_1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Take-home exercises are at the end of the notebook, with an extended challenge for anyone who wants more. Week 2 is Oct 6 for Section 1 and Oct 8 for Section 2.</a:t>
            </a:r>
            <a:endParaRPr/>
          </a:p>
        </p:txBody>
      </p:sp>
      <p:sp>
        <p:nvSpPr>
          <p:cNvPr id="111" name="Google Shape;111;h4c515f6aea982df0_3_1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yu.zoom.us" TargetMode="External"/><Relationship Id="rId4" Type="http://schemas.openxmlformats.org/officeDocument/2006/relationships/hyperlink" Target="https://brightspace.nyu.edu/d2l/home" TargetMode="External"/><Relationship Id="rId5" Type="http://schemas.openxmlformats.org/officeDocument/2006/relationships/hyperlink" Target="https://github.com/angelin-jacob/NYU-Tandon-Career-Hub-Fall-2026-Data-Science-Bootcamp" TargetMode="External"/><Relationship Id="rId6" Type="http://schemas.openxmlformats.org/officeDocument/2006/relationships/hyperlink" Target="mailto:datasciencebootcamp@nyu.edu" TargetMode="External"/><Relationship Id="rId7" Type="http://schemas.openxmlformats.org/officeDocument/2006/relationships/hyperlink" Target="https://nyu.joinhandshake.com/stu/appointment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yc.gov/opendata" TargetMode="External"/><Relationship Id="rId6" Type="http://schemas.openxmlformats.org/officeDocument/2006/relationships/hyperlink" Target="https://data.cityofnewyork.us/Transportation/Brooklyn-Bridge-Automated-Pedestrian-Counts-Demons/6fi9-q3ta/about_dat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EF8A9"/>
            </a:gs>
            <a:gs pos="100000">
              <a:srgbClr val="A3E7FF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09594" y="1680953"/>
            <a:ext cx="29208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A93A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NYU TANDON CAREER HUB · FALL 2026</a:t>
            </a:r>
            <a:endParaRPr b="0" i="0" sz="11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09591" y="2039364"/>
            <a:ext cx="7358062" cy="65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4800"/>
              <a:buFont typeface="Space Grotesk"/>
              <a:buNone/>
            </a:pPr>
            <a:r>
              <a:rPr b="1" i="0" lang="en" sz="4800" u="none" cap="none" strike="noStrike">
                <a:solidFill>
                  <a:srgbClr val="351C75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Science Bootcamp</a:t>
            </a:r>
            <a:endParaRPr b="0" i="0" sz="48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09591" y="2831781"/>
            <a:ext cx="6376988" cy="291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700"/>
              <a:buFont typeface="Inter"/>
              <a:buNone/>
            </a:pPr>
            <a:r>
              <a:rPr b="0" i="0" lang="en" sz="1700" u="none" cap="none" strike="noStrike">
                <a:solidFill>
                  <a:srgbClr val="20124D"/>
                </a:solidFill>
                <a:latin typeface="Inter"/>
                <a:ea typeface="Inter"/>
                <a:cs typeface="Inter"/>
                <a:sym typeface="Inter"/>
              </a:rPr>
              <a:t>Week </a:t>
            </a:r>
            <a:r>
              <a:rPr lang="en" sz="1700">
                <a:solidFill>
                  <a:srgbClr val="20124D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0" i="0" lang="en" sz="1700" u="none" cap="none" strike="noStrike">
                <a:solidFill>
                  <a:srgbClr val="20124D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lang="en" sz="1700">
                <a:solidFill>
                  <a:srgbClr val="20124D"/>
                </a:solidFill>
                <a:latin typeface="Inter"/>
                <a:ea typeface="Inter"/>
                <a:cs typeface="Inter"/>
                <a:sym typeface="Inter"/>
              </a:rPr>
              <a:t>Numpy &amp; Pandas</a:t>
            </a:r>
            <a:endParaRPr b="0" i="0" sz="17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09604" y="4347275"/>
            <a:ext cx="2424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Instructor: </a:t>
            </a:r>
            <a:r>
              <a:rPr b="1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Angelin Ann Jacob</a:t>
            </a:r>
            <a:endParaRPr b="0" i="0" sz="1100" u="none" cap="none" strike="noStrike">
              <a:solidFill>
                <a:srgbClr val="1D1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407779" y="4347275"/>
            <a:ext cx="186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Section 1 · Tue </a:t>
            </a:r>
            <a:r>
              <a:rPr lang="en" sz="11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Sept </a:t>
            </a: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0" i="0" sz="1100" u="none" cap="none" strike="noStrike">
              <a:solidFill>
                <a:srgbClr val="1D1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665707" y="4347275"/>
            <a:ext cx="1845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Section 2 · Thu </a:t>
            </a:r>
            <a:r>
              <a:rPr lang="en" sz="11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Oct </a:t>
            </a: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rgbClr val="1D1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5" title="NYUTandon_LongLogo_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4" y="96475"/>
            <a:ext cx="1826033" cy="2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EF8A9"/>
            </a:gs>
            <a:gs pos="100000">
              <a:srgbClr val="A3E7FF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lang="en" sz="2700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Links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611972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803067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sng" cap="none" strike="noStrike">
                <a:solidFill>
                  <a:srgbClr val="351C75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Zoom</a:t>
            </a:r>
            <a:endParaRPr b="0" i="0" sz="14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803067" y="1671665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All sessions are virtual. </a:t>
            </a:r>
            <a:r>
              <a:rPr lang="en" sz="10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Use ONLY </a:t>
            </a:r>
            <a:r>
              <a:rPr b="1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your NYU </a:t>
            </a:r>
            <a:r>
              <a:rPr b="1" lang="en" sz="10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SSO Login to be considered for </a:t>
            </a:r>
            <a:r>
              <a:rPr b="1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attendance 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291669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3482765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sng" cap="none" strike="noStrike">
                <a:solidFill>
                  <a:srgbClr val="351C75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Brightspace</a:t>
            </a:r>
            <a:endParaRPr b="0" i="0" sz="14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482765" y="1671665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Assignments, submissions and the discussion board, monitored Monday to Thursday.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971366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162461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sng" cap="none" strike="noStrike">
                <a:solidFill>
                  <a:srgbClr val="351C75"/>
                </a:solidFill>
                <a:latin typeface="Space Grotesk"/>
                <a:ea typeface="Space Grotesk"/>
                <a:cs typeface="Space Grotesk"/>
                <a:sym typeface="Space Grotes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b="0" i="0" sz="14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162461" y="1671665"/>
            <a:ext cx="2243826" cy="36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Slides and Colab notebooks for every session.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070697" y="2482496"/>
            <a:ext cx="2560800" cy="1164900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261792" y="2673591"/>
            <a:ext cx="2243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351C75"/>
                </a:solidFill>
                <a:latin typeface="Space Grotesk"/>
                <a:ea typeface="Space Grotesk"/>
                <a:cs typeface="Space Grotesk"/>
                <a:sym typeface="Space Grotesk"/>
              </a:rPr>
              <a:t>Email</a:t>
            </a:r>
            <a:endParaRPr b="0" i="0" sz="14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261792" y="2936412"/>
            <a:ext cx="224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datasciencebootcamp@nyu.edu</a:t>
            </a:r>
            <a:r>
              <a:rPr lang="en" sz="10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for questions, extensions and attendance approvals.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750394" y="2482496"/>
            <a:ext cx="2560800" cy="1164900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941490" y="2673591"/>
            <a:ext cx="2243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20124D"/>
                </a:solidFill>
                <a:latin typeface="Space Grotesk"/>
                <a:ea typeface="Space Grotesk"/>
                <a:cs typeface="Space Grotesk"/>
                <a:sym typeface="Space Grotesk"/>
              </a:rPr>
              <a:t>1:1 coaching</a:t>
            </a:r>
            <a:endParaRPr b="0" i="0" sz="14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941490" y="2936412"/>
            <a:ext cx="224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Optional 30-minute technical interview prep. </a:t>
            </a:r>
            <a:r>
              <a:rPr b="0" i="0" lang="en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Book it through Handshake.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8399766" y="4678691"/>
            <a:ext cx="17269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EF8A9"/>
            </a:gs>
            <a:gs pos="100000">
              <a:srgbClr val="A3E7FF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609601" y="2089800"/>
            <a:ext cx="78417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3600"/>
              <a:buFont typeface="Space Grotesk"/>
              <a:buNone/>
            </a:pPr>
            <a:r>
              <a:rPr b="1" lang="en" sz="34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Numpy &amp; Pandas </a:t>
            </a:r>
            <a:endParaRPr b="0" i="0" sz="36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7" title="NYUTandon_LongLogo_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4" y="96475"/>
            <a:ext cx="1826033" cy="2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534550" y="2730100"/>
            <a:ext cx="711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 to the libraries used in your day to day tasks as a Data Specialist!</a:t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EF8A9"/>
            </a:gs>
            <a:gs pos="100000">
              <a:srgbClr val="A3E7FF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8391627" y="4678691"/>
            <a:ext cx="18083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" sz="900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900">
              <a:solidFill>
                <a:srgbClr val="625D6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118466" y="489124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7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8" title="NYUTandon_LongLogo_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4" y="96475"/>
            <a:ext cx="1826033" cy="2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15639" r="17440" t="0"/>
          <a:stretch/>
        </p:blipFill>
        <p:spPr>
          <a:xfrm>
            <a:off x="3779325" y="576600"/>
            <a:ext cx="4793149" cy="399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302050" y="1870775"/>
            <a:ext cx="31572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3600"/>
              <a:buFont typeface="Space Grotesk"/>
              <a:buNone/>
            </a:pPr>
            <a:r>
              <a:rPr b="1" lang="en" sz="33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NYC Open Data</a:t>
            </a:r>
            <a:endParaRPr b="0" i="0" sz="35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53350" y="2567400"/>
            <a:ext cx="3080100" cy="19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5"/>
              </a:rPr>
              <a:t>https://www.nyc.gov/opendata</a:t>
            </a: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name: </a:t>
            </a:r>
            <a:b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Brooklyn Bridge Automated Pedestrian Counts Demonstration Project (Historic)</a:t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Provided By: </a:t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Department of Transportation (DOT)</a:t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Visit: </a:t>
            </a:r>
            <a:r>
              <a:rPr b="1" lang="en" sz="90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6"/>
              </a:rPr>
              <a:t>NYC Open Data - City of New York - Brooklyn Bridge Automation</a:t>
            </a: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167925" y="576500"/>
            <a:ext cx="3402900" cy="3990300"/>
          </a:xfrm>
          <a:prstGeom prst="roundRect">
            <a:avLst>
              <a:gd fmla="val 1028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EF8A9"/>
            </a:gs>
            <a:gs pos="100000">
              <a:srgbClr val="A3E7FF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Before next week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>
            <a:off x="609591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FDFC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9"/>
          <p:cNvSpPr/>
          <p:nvPr/>
        </p:nvSpPr>
        <p:spPr>
          <a:xfrm>
            <a:off x="609591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Take-home</a:t>
            </a:r>
            <a:endParaRPr b="0" i="0" sz="15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609600" y="2611213"/>
            <a:ext cx="26163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The exercises at the end of today's notebook. Submit on Brightspace within one week, by 11:59 PM.</a:t>
            </a:r>
            <a:endParaRPr b="0" i="0" sz="11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9"/>
          <p:cNvCxnSpPr/>
          <p:nvPr/>
        </p:nvCxnSpPr>
        <p:spPr>
          <a:xfrm>
            <a:off x="3301985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FDFC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9"/>
          <p:cNvSpPr/>
          <p:nvPr/>
        </p:nvSpPr>
        <p:spPr>
          <a:xfrm>
            <a:off x="3301985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Feedback form</a:t>
            </a:r>
            <a:endParaRPr b="0" i="0" sz="15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3301987" y="2611213"/>
            <a:ext cx="26163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Fill it out after today's session. It counts toward your credential.</a:t>
            </a:r>
            <a:endParaRPr b="0" i="0" sz="11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9"/>
          <p:cNvCxnSpPr/>
          <p:nvPr/>
        </p:nvCxnSpPr>
        <p:spPr>
          <a:xfrm>
            <a:off x="5994378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FDFC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9"/>
          <p:cNvSpPr/>
          <p:nvPr/>
        </p:nvSpPr>
        <p:spPr>
          <a:xfrm>
            <a:off x="5994378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 </a:t>
            </a:r>
            <a:r>
              <a:rPr b="1" lang="en" sz="15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r>
              <a:rPr b="1" i="0" lang="en" sz="1500" u="none" cap="none" strike="noStrike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: </a:t>
            </a:r>
            <a:r>
              <a:rPr b="1" lang="en" sz="15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 Fundamentals</a:t>
            </a:r>
            <a:endParaRPr b="0" i="0" sz="15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5994374" y="2611213"/>
            <a:ext cx="26163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lang="en" sz="1100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Work with Databases and get familiar with SQL Basics!</a:t>
            </a:r>
            <a:endParaRPr b="0" i="0" sz="11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609591" y="4320574"/>
            <a:ext cx="8162564" cy="23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200"/>
              <a:buFont typeface="Inter"/>
              <a:buNone/>
            </a:pPr>
            <a:r>
              <a:rPr b="0" i="0" lang="en" sz="12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See you at the social: </a:t>
            </a:r>
            <a:r>
              <a:rPr b="1" i="0" lang="en" sz="12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Mon, Oct 5, 3–5 PM</a:t>
            </a:r>
            <a:r>
              <a:rPr b="0" i="0" lang="en" sz="12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 · 2 MetroTech Center, Room 1054</a:t>
            </a:r>
            <a:endParaRPr b="0" i="0" sz="12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9" title="NYUTandon_LongLogo_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4" y="96475"/>
            <a:ext cx="1826033" cy="2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/>
          <p:nvPr/>
        </p:nvSpPr>
        <p:spPr>
          <a:xfrm>
            <a:off x="118466" y="489124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7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